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7" r:id="rId2"/>
    <p:sldId id="286" r:id="rId3"/>
    <p:sldId id="285" r:id="rId4"/>
    <p:sldId id="297" r:id="rId5"/>
    <p:sldId id="259" r:id="rId6"/>
    <p:sldId id="281" r:id="rId7"/>
    <p:sldId id="293" r:id="rId8"/>
    <p:sldId id="294" r:id="rId9"/>
    <p:sldId id="295" r:id="rId10"/>
    <p:sldId id="296" r:id="rId11"/>
    <p:sldId id="282" r:id="rId12"/>
    <p:sldId id="283" r:id="rId13"/>
    <p:sldId id="288" r:id="rId14"/>
    <p:sldId id="287" r:id="rId15"/>
    <p:sldId id="290" r:id="rId16"/>
    <p:sldId id="289" r:id="rId17"/>
    <p:sldId id="291" r:id="rId18"/>
    <p:sldId id="292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702" autoAdjust="0"/>
  </p:normalViewPr>
  <p:slideViewPr>
    <p:cSldViewPr snapToGrid="0">
      <p:cViewPr varScale="1">
        <p:scale>
          <a:sx n="92" d="100"/>
          <a:sy n="92" d="100"/>
        </p:scale>
        <p:origin x="326" y="106"/>
      </p:cViewPr>
      <p:guideLst/>
    </p:cSldViewPr>
  </p:slideViewPr>
  <p:outlineViewPr>
    <p:cViewPr>
      <p:scale>
        <a:sx n="33" d="100"/>
        <a:sy n="33" d="100"/>
      </p:scale>
      <p:origin x="0" y="-430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CA59-51AA-4717-BF4A-177FB90EC27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D6CF-5DCF-4517-9084-DF2C612D3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0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EC4-1558-2223-CB2D-15C25DE8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4F909-5C00-DBFA-E100-2ACCD38C2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E94-6781-D3FD-4368-70942EA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1B2A-88E9-41C6-ADDD-B3B0ECF6CD4A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156B-5D4B-AA00-0F29-70815D0E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F4E9-F9B3-3F5C-DE52-05A71C66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3C-853D-84FE-DB44-52B15F4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E7E8-333A-35B0-B223-0BF0509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DF88-ABCA-ED7D-43FE-F5AFF2DE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BA3D-0B35-42DF-90EE-AC95B649311D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36B-4DF6-D71B-5692-2421B76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F395-DFAA-8106-F3DD-1D12460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5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ABDA-C8EE-0866-9636-4EE6E75C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7229-669F-55AD-B45B-98D0CD82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1A31-5FEC-C31B-8A93-685998E1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9D5-C857-4AFF-933C-A6D6DB6026D5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FDF-0BDC-5B0B-8E46-1F5B5ED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7E10-C155-032A-91C0-C31BF81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070C-81E9-DF2C-AD0F-46A4BC7A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35F1-43E6-1F02-148F-733443AF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F5A-2183-1C1E-62DA-2DBEA378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4CC83-41DA-815C-EE35-03BE9BDD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2AA-D128-42F3-9526-953858CDE727}" type="datetime1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38D4-5F16-9204-06E3-86669C55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A61F-57C6-338B-0E12-8690436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A-7201-752E-335A-4E9E74A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0211B-140F-3904-E44D-302827CE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F4F8B-7A16-EB5A-896A-4A3CFB622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A9CB6-F469-529B-B780-2A66CC970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12D0-01EB-BCB4-EED6-A08AEBF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AAF6D-133D-99A1-4939-247DF437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C1A-7206-4ACB-88CC-4D580494CFD8}" type="datetime1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5D84-96CB-C218-14DB-6424B62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2E76-99E2-AF55-5F0A-0D0D79F8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41E5-2CDD-A169-63B5-9CD56F7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C2EF2-1AC0-05CC-B8DB-DE33377B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6A41-B699-420A-89B7-1360021CE64F}" type="datetime1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A2E7-832A-5F3E-87C5-CC3845C3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49DEE-F067-764B-2872-11FFD1B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31A5-0267-D5D3-4FAF-3A697B4C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83745-FF14-4267-8CE3-5B5166319872}" type="datetime1">
              <a:rPr lang="ru-RU" smtClean="0"/>
              <a:t>18.05.2026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47816-B590-5BA7-C25C-D49228B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5682-05DE-3C61-8AA8-4326E96A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550-DF2A-A97B-0562-D5F8F6E8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69EB-8BAA-72B0-3D6D-9CD98B16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204E-34C8-9B81-63F1-7BA597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EE2D-F292-9807-C53C-39A35824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2D68-E935-40A0-A15C-328BCC7A62F5}" type="datetime1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D61B-6553-CC47-C7CA-D26CE0D5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542F-652C-F263-F098-5C41695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C40-3F8E-58E0-E50E-AEF074F0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ADA0-EC59-B8B0-876D-6D7D5DBC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39ED-CEFB-0760-84E3-32161B0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13CF-35EA-0FA3-AC91-4CF4C3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0BEA-9C6C-4843-891D-C389990A7C5F}" type="datetime1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CEA15-9796-4ADD-1037-F3ECC7D3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CA49-88E6-B310-7D45-695464E3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6DA-8C3F-99FB-246B-4EC66DE7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8F120-0466-A4D0-72AF-A9AD605E0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E01F-5092-974A-7137-55388DB6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598E-39A0-4499-B681-3910AD4163EA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4936-8CED-3EA4-3137-AC2CEB9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512D-5E78-4778-CE5A-06A99A9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57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A563D-FD32-7578-5CA8-BD6D2985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CBA4C-617F-A815-8F47-9D7F74F16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A9BE-0505-9BD4-9735-B1E219C2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D412-F844-4D5F-BEB0-B16AF876AB34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5855-B8A8-6EBE-5A46-C579F7A6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348-AE26-0439-1CD2-AF420BF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45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3E3DB-930F-484E-5137-CBCA1B91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9697A-C788-AB24-53BB-504BB01C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7B52-6E9B-9055-6B98-08EC7DE0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CD74-3F4F-4664-BDCE-83D9D19648C6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E36F-7A96-5893-97D3-6AA7155D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4DE9-A70C-0B49-F080-005569A06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 группы ТКИ-341: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Бахров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К.С.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Луканкин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В.С.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д.т.н., профессор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419AF-6337-4668-A036-BEC32B44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02D92C-AC01-4949-A22E-FDE906D28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задачи…………………………………………………3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кода………………………………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Дамп памяти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информация об исполняемом файле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запуска программы ………………………………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4A7567-7946-454B-A280-F59ADEF2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63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101D8-8B40-42F2-9A7F-14E3E6B2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-9493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4A5E9A-5C8F-48D3-B42F-69DAF38E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8" y="1301922"/>
            <a:ext cx="11054542" cy="5348259"/>
          </a:xfrm>
        </p:spPr>
        <p:txBody>
          <a:bodyPr>
            <a:normAutofit fontScale="70000" lnSpcReduction="20000"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2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исполняемый файл на любом языке программирования. Задача, которую решает созданный программный код, не должна по сложности превышать разумные пределы, но и не должна быть слишком простой. Наличие секретов ОБЯЗАТЕЛЬНО. Авторы должны понимать, что им также придется анализировать чей-то код.</a:t>
            </a:r>
            <a:endParaRPr lang="ru-RU" sz="2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ru-RU" sz="2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Группа должна завести диск, на который выгружаются все </a:t>
            </a:r>
            <a:r>
              <a:rPr lang="en-US" sz="2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</a:t>
            </a:r>
            <a:r>
              <a:rPr lang="ru-RU" sz="2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-файлы. Они НЕ должны содержать информации, указывающей на авторство файла и его функционал.</a:t>
            </a:r>
            <a:endParaRPr lang="ru-RU" sz="2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ru-RU" sz="2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загрузки на диск файлов от всех команд, но не позже 16.04.2026, будет проведена жеребьевка с использованием генератора псевдослучайных чисел. Если количество файлов к 16.04.2026 будет меньше 16, то преподаватели дополняют недостающий объем данных по своему усмотрению.</a:t>
            </a:r>
            <a:endParaRPr lang="ru-RU" sz="2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ru-RU" sz="2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результатам жеребьевки каждая команда должна будет провести реверс-инжиниринг полученного </a:t>
            </a:r>
            <a:r>
              <a:rPr lang="en-US" sz="2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</a:t>
            </a:r>
            <a:r>
              <a:rPr lang="ru-RU" sz="2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файла, определить его функционал, подготовить презентацию, освещающую процесс работы. 14.05.2026 будет проведена публичная защита выполненных заданий, на которой зачет по заданию получается по двум пунктам: как сам провел реверс-инжиниринг чужой программы и насколько удачно составлено задание, предоставленное коллегам.</a:t>
            </a:r>
            <a:endParaRPr lang="ru-RU" sz="2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ru-RU" sz="23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Файл с отчетом наименовать: "Лр5_Санта Ф1 Ф2 Номер варианта". Отчет должен содержать формулировку задачи, которую предположительно решает исследованное программное обеспечение.</a:t>
            </a:r>
            <a:endParaRPr lang="ru-RU" sz="2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A0182E-5613-4289-808B-0FBD936F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07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101D8-8B40-42F2-9A7F-14E3E6B2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-9493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4A5E9A-5C8F-48D3-B42F-69DAF38E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7832" y="1301923"/>
            <a:ext cx="3664527" cy="5148754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Данная программа представляет собой верификатор паролей с ограниченным количеством попыток входа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A0182E-5613-4289-808B-0FBD936F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4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A358F5D-BF10-46C2-804B-5ABD11D34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378" y="0"/>
            <a:ext cx="3909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5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3704"/>
            <a:ext cx="10515600" cy="1325563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4CBB440-B33B-4C62-BD81-CD6899EED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179"/>
            <a:ext cx="5685906" cy="420445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5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2D328F-02C7-4FEB-9A32-048470C40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51631"/>
            <a:ext cx="6619734" cy="20245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66E9B6-8B74-4021-A179-7E594364CB9E}"/>
              </a:ext>
            </a:extLst>
          </p:cNvPr>
          <p:cNvSpPr txBox="1"/>
          <p:nvPr/>
        </p:nvSpPr>
        <p:spPr>
          <a:xfrm>
            <a:off x="5888182" y="922106"/>
            <a:ext cx="3207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код </a:t>
            </a:r>
            <a:r>
              <a:rPr lang="en-GB" dirty="0"/>
              <a:t>IDA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999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52" y="8773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6</a:t>
            </a:fld>
            <a:endParaRPr lang="ru-RU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73E3A5-635E-41C0-8189-FE90DB3A86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052359"/>
            <a:ext cx="11646131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Декомпилированный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код реализует проверку пароля с ограничением количества попыток ввода.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Переменные v9 и v10 используются как объекты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хранения правильного и введённого пароля, а v13 хранит количество оставшихся попыток.</a:t>
            </a:r>
            <a:endParaRPr kumimoji="0" lang="en-GB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 исполняемого файла предназначен для принятия и верификации пароля. Первым делом инициализируются переменные, затем начинается цикл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трех итераций. Количество итераций указано в переменной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v13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цикле реализован механизм сравнения, введенного пароля, хранящегося в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v10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паролем, хранящимся в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v9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Затем если пароли не совпадают, то итератор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уменьшается на 1 значение.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логика программы выполняется внутри цикла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 v13 &gt; 0 ), где используются операции ввода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&gt;&gt;, сравнение строк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==&lt;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&gt;(v10, v9) и вывод через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&lt;&lt;.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коде также явно отображаются внутренние механизмы C++, включая вызовы конструкторов и деструкторов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служебные объекты refptr__ZSt4cout и refptr__ZSt3cin, соответствующие потокам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3746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52" y="8773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7</a:t>
            </a:fld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4E1766F-BF95-4D71-AABA-D035ECE52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648" y="1300002"/>
            <a:ext cx="7909715" cy="5169647"/>
          </a:xfrm>
        </p:spPr>
      </p:pic>
    </p:spTree>
    <p:extLst>
      <p:ext uri="{BB962C8B-B14F-4D97-AF65-F5344CB8AC3E}">
        <p14:creationId xmlns:p14="http://schemas.microsoft.com/office/powerpoint/2010/main" val="367404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52" y="8773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8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E715911-FE64-4506-9B91-7EE083225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9100"/>
            <a:ext cx="12146632" cy="3588958"/>
          </a:xfrm>
        </p:spPr>
      </p:pic>
    </p:spTree>
    <p:extLst>
      <p:ext uri="{BB962C8B-B14F-4D97-AF65-F5344CB8AC3E}">
        <p14:creationId xmlns:p14="http://schemas.microsoft.com/office/powerpoint/2010/main" val="901991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52" y="8773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9</a:t>
            </a:fld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CDE3BF5-1476-4D3C-A34B-7527D6F3C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43562"/>
            <a:ext cx="12178055" cy="3101438"/>
          </a:xfrm>
        </p:spPr>
      </p:pic>
    </p:spTree>
    <p:extLst>
      <p:ext uri="{BB962C8B-B14F-4D97-AF65-F5344CB8AC3E}">
        <p14:creationId xmlns:p14="http://schemas.microsoft.com/office/powerpoint/2010/main" val="62125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52" y="8773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вызовов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10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659E45E-23CB-4305-A417-C6925330B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121" y="1076940"/>
            <a:ext cx="7561758" cy="5781060"/>
          </a:xfrm>
        </p:spPr>
      </p:pic>
    </p:spTree>
    <p:extLst>
      <p:ext uri="{BB962C8B-B14F-4D97-AF65-F5344CB8AC3E}">
        <p14:creationId xmlns:p14="http://schemas.microsoft.com/office/powerpoint/2010/main" val="1659569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ABC5-B56D-988D-BA53-B1640E9A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81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Дамп памяти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4A65-D55E-6252-DC10-51BBACF2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11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E91BD-8233-4E7A-BF74-210A6D38302B}"/>
              </a:ext>
            </a:extLst>
          </p:cNvPr>
          <p:cNvSpPr txBox="1"/>
          <p:nvPr/>
        </p:nvSpPr>
        <p:spPr>
          <a:xfrm>
            <a:off x="309717" y="4977576"/>
            <a:ext cx="118822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3327102D-BD8D-4FAB-8312-8A600F001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74" y="904596"/>
            <a:ext cx="7211367" cy="5451754"/>
          </a:xfr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87310425-5E72-4A40-88A2-66FB22320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864" y="990143"/>
            <a:ext cx="450741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Повторяющиеся сигнатуры инструкций (48 8D, 48 89, E8) указывают на операции загрузки адресов, перемещения данных и вызовы функций, что позволяет определить структуру программы и границы процедур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436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07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информация об исполняемом файле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9A2E-2797-361B-33B4-1596D257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98721"/>
            <a:ext cx="7009015" cy="643255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программы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12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FA8252-1D0C-4C33-A5DF-DC9594337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7152"/>
            <a:ext cx="6350000" cy="4681569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FCA0205-A5A7-4AF4-8AD7-65AA85719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436" y="1604543"/>
            <a:ext cx="533538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энтропия файла составляет 4.87, что указывает на отсутствие упаковки и шифрования;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показал, что файл является 64-битным PE32+ консольным приложением для Windows, написанным на C++;</a:t>
            </a:r>
          </a:p>
        </p:txBody>
      </p:sp>
    </p:spTree>
    <p:extLst>
      <p:ext uri="{BB962C8B-B14F-4D97-AF65-F5344CB8AC3E}">
        <p14:creationId xmlns:p14="http://schemas.microsoft.com/office/powerpoint/2010/main" val="1935494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07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информация об исполняемом файле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9A2E-2797-361B-33B4-1596D257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25" y="4409863"/>
            <a:ext cx="7009015" cy="643255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программы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it Easy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13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9F65B3-A99F-4D07-9DAA-B76ABD4FE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5" y="940043"/>
            <a:ext cx="9657541" cy="345309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A18574A-DFC1-42DC-94E7-9D6B0D3FC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5" y="4831723"/>
            <a:ext cx="1167938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Файл определён как PE64 — 64-битное консольное приложение для Windows с архитектурой AMD64;</a:t>
            </a:r>
            <a:b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Анализатор обнаружил признаки компиляции с использованием </a:t>
            </a: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MinGW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языка программирования C++;</a:t>
            </a:r>
            <a:b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 подозрительный </a:t>
            </a: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overlay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Compressed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packed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что может указывать на наличие дополнительных данных, упаковки или модификации файла;</a:t>
            </a:r>
            <a:b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файла составляет 77.76 </a:t>
            </a: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KiB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базовый адрес загрузки — 0x140000000, точка входа — 0x1400013F0; </a:t>
            </a:r>
          </a:p>
        </p:txBody>
      </p:sp>
    </p:spTree>
    <p:extLst>
      <p:ext uri="{BB962C8B-B14F-4D97-AF65-F5344CB8AC3E}">
        <p14:creationId xmlns:p14="http://schemas.microsoft.com/office/powerpoint/2010/main" val="947201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1"/>
            <a:ext cx="10007600" cy="948529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запуска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13.exe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76D564F-6BD2-4D62-B04C-51B84C561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75"/>
            <a:ext cx="6741795" cy="2114203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14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66628D0-1347-4C1F-92CC-5C09AF138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835" y="1202575"/>
            <a:ext cx="4944165" cy="27626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D252E0-9F49-4480-9B03-3DEDEB71E19F}"/>
              </a:ext>
            </a:extLst>
          </p:cNvPr>
          <p:cNvSpPr txBox="1"/>
          <p:nvPr/>
        </p:nvSpPr>
        <p:spPr>
          <a:xfrm>
            <a:off x="340360" y="3466901"/>
            <a:ext cx="3676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Предположительно успешный тест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83DBEE-821F-4833-93A2-E28D81C90EE5}"/>
              </a:ext>
            </a:extLst>
          </p:cNvPr>
          <p:cNvSpPr txBox="1"/>
          <p:nvPr/>
        </p:nvSpPr>
        <p:spPr>
          <a:xfrm>
            <a:off x="7247835" y="4093434"/>
            <a:ext cx="6222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Предположительно неуспешный тест </a:t>
            </a:r>
          </a:p>
        </p:txBody>
      </p:sp>
    </p:spTree>
    <p:extLst>
      <p:ext uri="{BB962C8B-B14F-4D97-AF65-F5344CB8AC3E}">
        <p14:creationId xmlns:p14="http://schemas.microsoft.com/office/powerpoint/2010/main" val="3578559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1"/>
            <a:ext cx="10007600" cy="948529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запуска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13.exe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cmd.exe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15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252E0-9F49-4480-9B03-3DEDEB71E19F}"/>
              </a:ext>
            </a:extLst>
          </p:cNvPr>
          <p:cNvSpPr txBox="1"/>
          <p:nvPr/>
        </p:nvSpPr>
        <p:spPr>
          <a:xfrm>
            <a:off x="340360" y="3466901"/>
            <a:ext cx="3676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Предположительно успешный тест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83DBEE-821F-4833-93A2-E28D81C90EE5}"/>
              </a:ext>
            </a:extLst>
          </p:cNvPr>
          <p:cNvSpPr txBox="1"/>
          <p:nvPr/>
        </p:nvSpPr>
        <p:spPr>
          <a:xfrm>
            <a:off x="8111435" y="4493876"/>
            <a:ext cx="6222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Предположительно неуспешный тест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FB75DA8-EBFC-46DE-8BD5-D597E0C48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400"/>
            <a:ext cx="6397610" cy="199269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758397B-8F2D-4A07-AE3E-E8D177B99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467" y="1398400"/>
            <a:ext cx="4278690" cy="309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04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400" y="-60959"/>
            <a:ext cx="10007600" cy="948529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16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1A58BE-358C-4E48-95EA-EE04FA326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25" y="0"/>
            <a:ext cx="311467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176A2C-CFB4-4A4A-94D1-F8E9A44F7918}"/>
              </a:ext>
            </a:extLst>
          </p:cNvPr>
          <p:cNvSpPr txBox="1"/>
          <p:nvPr/>
        </p:nvSpPr>
        <p:spPr>
          <a:xfrm>
            <a:off x="3933133" y="3641952"/>
            <a:ext cx="2934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hex_rays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3538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467" y="136525"/>
            <a:ext cx="10007600" cy="948529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запуска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декопилированной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программы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17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252E0-9F49-4480-9B03-3DEDEB71E19F}"/>
              </a:ext>
            </a:extLst>
          </p:cNvPr>
          <p:cNvSpPr txBox="1"/>
          <p:nvPr/>
        </p:nvSpPr>
        <p:spPr>
          <a:xfrm>
            <a:off x="340360" y="3466901"/>
            <a:ext cx="3676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Предположительно успешный тест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83DBEE-821F-4833-93A2-E28D81C90EE5}"/>
              </a:ext>
            </a:extLst>
          </p:cNvPr>
          <p:cNvSpPr txBox="1"/>
          <p:nvPr/>
        </p:nvSpPr>
        <p:spPr>
          <a:xfrm>
            <a:off x="7247835" y="4093434"/>
            <a:ext cx="6222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Предположительно неуспешный тест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42BF28-A09C-4144-8856-4BB35575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E5D721C-ACBA-45AE-BD25-F30706C0B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2" y="1373124"/>
            <a:ext cx="6329731" cy="105680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C03394C-CE15-4A0C-9DF2-871BCB773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454" y="1373124"/>
            <a:ext cx="5552546" cy="250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8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467" y="136525"/>
            <a:ext cx="10007600" cy="948529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запуска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декопилированной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программы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cmd.exe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18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252E0-9F49-4480-9B03-3DEDEB71E19F}"/>
              </a:ext>
            </a:extLst>
          </p:cNvPr>
          <p:cNvSpPr txBox="1"/>
          <p:nvPr/>
        </p:nvSpPr>
        <p:spPr>
          <a:xfrm>
            <a:off x="340360" y="3466901"/>
            <a:ext cx="3676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Предположительно успешный тест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83DBEE-821F-4833-93A2-E28D81C90EE5}"/>
              </a:ext>
            </a:extLst>
          </p:cNvPr>
          <p:cNvSpPr txBox="1"/>
          <p:nvPr/>
        </p:nvSpPr>
        <p:spPr>
          <a:xfrm>
            <a:off x="7247835" y="4093434"/>
            <a:ext cx="6222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Предположительно неуспешный тест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EDD6B0-9104-48BF-9A06-DC780D05D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9B1685A-FA16-4A64-8D1E-F106393DD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4" y="1904408"/>
            <a:ext cx="6154563" cy="135896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1D0AE72-F2D5-4CAC-A4EC-B0F5BA3F7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002" y="1389570"/>
            <a:ext cx="4753638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61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7150</TotalTime>
  <Words>729</Words>
  <Application>Microsoft Office PowerPoint</Application>
  <PresentationFormat>Широкоэкранный</PresentationFormat>
  <Paragraphs>74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Отчёт по лабораторной работе №5</vt:lpstr>
      <vt:lpstr>Содержание</vt:lpstr>
      <vt:lpstr>Постановка задачи</vt:lpstr>
      <vt:lpstr>Формулировка  задачи</vt:lpstr>
      <vt:lpstr>IDA</vt:lpstr>
      <vt:lpstr>Анализ декомпилированного кода</vt:lpstr>
      <vt:lpstr>Графы вызовов</vt:lpstr>
      <vt:lpstr>Графы вызовов</vt:lpstr>
      <vt:lpstr>Графы вызовов</vt:lpstr>
      <vt:lpstr>Графы вызовов</vt:lpstr>
      <vt:lpstr>Дамп памяти cutter</vt:lpstr>
      <vt:lpstr>Общая информация об исполняемом файле </vt:lpstr>
      <vt:lpstr>Общая информация об исполняемом файле </vt:lpstr>
      <vt:lpstr>Результаты запуска 13.exe в powershell </vt:lpstr>
      <vt:lpstr>Результаты запуска 13.exe в cmd.exe</vt:lpstr>
      <vt:lpstr>Декомпилированный код</vt:lpstr>
      <vt:lpstr>Результаты запуска декопилированной программы в powershell </vt:lpstr>
      <vt:lpstr>Результаты запуска декопилированной программы в cmd.exe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№6</dc:title>
  <dc:creator>Егор Королёв</dc:creator>
  <cp:lastModifiedBy>Вячеслав Луканкин</cp:lastModifiedBy>
  <cp:revision>23</cp:revision>
  <dcterms:created xsi:type="dcterms:W3CDTF">2026-04-14T20:09:30Z</dcterms:created>
  <dcterms:modified xsi:type="dcterms:W3CDTF">2026-05-23T01:52:29Z</dcterms:modified>
</cp:coreProperties>
</file>