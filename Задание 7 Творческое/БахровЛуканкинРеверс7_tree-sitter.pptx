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7" r:id="rId2"/>
    <p:sldId id="286" r:id="rId3"/>
    <p:sldId id="285" r:id="rId4"/>
    <p:sldId id="259" r:id="rId5"/>
    <p:sldId id="301" r:id="rId6"/>
    <p:sldId id="281" r:id="rId7"/>
    <p:sldId id="288" r:id="rId8"/>
    <p:sldId id="289" r:id="rId9"/>
    <p:sldId id="290" r:id="rId10"/>
    <p:sldId id="298" r:id="rId11"/>
    <p:sldId id="299" r:id="rId12"/>
    <p:sldId id="291" r:id="rId13"/>
    <p:sldId id="292" r:id="rId14"/>
    <p:sldId id="293" r:id="rId15"/>
    <p:sldId id="294" r:id="rId16"/>
    <p:sldId id="296" r:id="rId17"/>
    <p:sldId id="297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2" d="100"/>
          <a:sy n="92" d="100"/>
        </p:scale>
        <p:origin x="32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CA59-51AA-4717-BF4A-177FB90EC27E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D6CF-5DCF-4517-9084-DF2C612D3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0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EC4-1558-2223-CB2D-15C25DE8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4F909-5C00-DBFA-E100-2ACCD38C2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E94-6781-D3FD-4368-70942EA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1B2A-88E9-41C6-ADDD-B3B0ECF6CD4A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156B-5D4B-AA00-0F29-70815D0E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F4E9-F9B3-3F5C-DE52-05A71C66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3C-853D-84FE-DB44-52B15F4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E7E8-333A-35B0-B223-0BF0509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DF88-ABCA-ED7D-43FE-F5AFF2DE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BA3D-0B35-42DF-90EE-AC95B649311D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36B-4DF6-D71B-5692-2421B76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F395-DFAA-8106-F3DD-1D12460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5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ABDA-C8EE-0866-9636-4EE6E75C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7229-669F-55AD-B45B-98D0CD82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1A31-5FEC-C31B-8A93-685998E1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9D5-C857-4AFF-933C-A6D6DB6026D5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FDF-0BDC-5B0B-8E46-1F5B5ED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7E10-C155-032A-91C0-C31BF81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070C-81E9-DF2C-AD0F-46A4BC7A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35F1-43E6-1F02-148F-733443AF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F5A-2183-1C1E-62DA-2DBEA378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4CC83-41DA-815C-EE35-03BE9BDD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2AA-D128-42F3-9526-953858CDE727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38D4-5F16-9204-06E3-86669C55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A61F-57C6-338B-0E12-8690436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A-7201-752E-335A-4E9E74A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0211B-140F-3904-E44D-302827CE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F4F8B-7A16-EB5A-896A-4A3CFB622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A9CB6-F469-529B-B780-2A66CC970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12D0-01EB-BCB4-EED6-A08AEBF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AAF6D-133D-99A1-4939-247DF437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C1A-7206-4ACB-88CC-4D580494CFD8}" type="datetime1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5D84-96CB-C218-14DB-6424B62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2E76-99E2-AF55-5F0A-0D0D79F8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41E5-2CDD-A169-63B5-9CD56F7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C2EF2-1AC0-05CC-B8DB-DE33377B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6A41-B699-420A-89B7-1360021CE64F}" type="datetime1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A2E7-832A-5F3E-87C5-CC3845C3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49DEE-F067-764B-2872-11FFD1B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31A5-0267-D5D3-4FAF-3A697B4C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83745-FF14-4267-8CE3-5B5166319872}" type="datetime1">
              <a:rPr lang="ru-RU" smtClean="0"/>
              <a:t>28.05.2026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47816-B590-5BA7-C25C-D49228B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5682-05DE-3C61-8AA8-4326E96A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550-DF2A-A97B-0562-D5F8F6E8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69EB-8BAA-72B0-3D6D-9CD98B16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204E-34C8-9B81-63F1-7BA597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EE2D-F292-9807-C53C-39A35824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2D68-E935-40A0-A15C-328BCC7A62F5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D61B-6553-CC47-C7CA-D26CE0D5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542F-652C-F263-F098-5C41695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C40-3F8E-58E0-E50E-AEF074F0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ADA0-EC59-B8B0-876D-6D7D5DBC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39ED-CEFB-0760-84E3-32161B0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13CF-35EA-0FA3-AC91-4CF4C3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0BEA-9C6C-4843-891D-C389990A7C5F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CEA15-9796-4ADD-1037-F3ECC7D3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CA49-88E6-B310-7D45-695464E3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6DA-8C3F-99FB-246B-4EC66DE7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8F120-0466-A4D0-72AF-A9AD605E0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E01F-5092-974A-7137-55388DB6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598E-39A0-4499-B681-3910AD4163EA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4936-8CED-3EA4-3137-AC2CEB9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512D-5E78-4778-CE5A-06A99A9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57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A563D-FD32-7578-5CA8-BD6D2985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CBA4C-617F-A815-8F47-9D7F74F16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A9BE-0505-9BD4-9735-B1E219C2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D412-F844-4D5F-BEB0-B16AF876AB34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5855-B8A8-6EBE-5A46-C579F7A6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348-AE26-0439-1CD2-AF420BF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45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3E3DB-930F-484E-5137-CBCA1B91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9697A-C788-AB24-53BB-504BB01C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7B52-6E9B-9055-6B98-08EC7DE0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CD74-3F4F-4664-BDCE-83D9D19648C6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E36F-7A96-5893-97D3-6AA7155D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4DE9-A70C-0B49-F080-005569A06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lck.ru/3TEpj8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ree-sitter/tree-sitter" TargetMode="External"/><Relationship Id="rId2" Type="http://schemas.openxmlformats.org/officeDocument/2006/relationships/hyperlink" Target="https://tree-sitter.github.io/tree-sitt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ck.ru/3TEpj8" TargetMode="External"/><Relationship Id="rId4" Type="http://schemas.openxmlformats.org/officeDocument/2006/relationships/hyperlink" Target="https://github.com/tree-sitter/tree-sitter-c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 студенты группы ТКИ-341:</a:t>
            </a:r>
          </a:p>
          <a:p>
            <a:pPr algn="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Бахров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К.С.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Луканкин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В.С.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д.т.н.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профессор Сидоренко Валентина Геннадьевна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доцент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419AF-6337-4668-A036-BEC32B440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02D92C-AC01-4949-A22E-FDE906D28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задачи……………………………………………………3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……………...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………4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Инициализация репозитория..……………………………….………5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парсера…...………………………………………………7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файла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…...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………………………………………………8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тестового запроса.……………………………………...10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запроса к файлу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…………………………..12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Понятность и полнота освещения в источниках……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…………...13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Рекомендация к анализируемым учебным пособиям……………..14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……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..................................................................…………...15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источников ……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…………………………………..………16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4A7567-7946-454B-A280-F59ADEF2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63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101D8-8B40-42F2-9A7F-14E3E6B2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4A5E9A-5C8F-48D3-B42F-69DAF38E4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Самостоятельно разобраться с одним из средств реверс-инжиниринга, указанных в таблице, выполнить в нем анализ исследованных ранее программных кодов. Основной источник информации - </a:t>
            </a:r>
            <a:r>
              <a:rPr lang="en-GB" dirty="0">
                <a:solidFill>
                  <a:srgbClr val="2F3747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clck.ru/3TEpj8</a:t>
            </a:r>
            <a:r>
              <a:rPr lang="ru-RU" dirty="0">
                <a:solidFill>
                  <a:srgbClr val="2F3747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  </a:t>
            </a:r>
            <a:endParaRPr lang="en-GB" dirty="0">
              <a:solidFill>
                <a:srgbClr val="2F3747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pPr marL="0" indent="0">
              <a:buNone/>
            </a:pP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Используемый инструмент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tree-sitter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A0182E-5613-4289-808B-0FBD936F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07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697E-1524-9722-4484-E9D8EC0F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инструмент для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синтаксического анализа исходного кода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строит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абстрактное синтаксическое дерево (AST)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 позволяет: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разбирать код на структурные элементы (функции, условия, переменные)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выполнять точный анализ программы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 запросы для поиска конструкций в коде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99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4708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работы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5</a:t>
            </a:fld>
            <a:endParaRPr lang="ru-RU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DB0AEB-688C-489C-8F07-AAB58E243DAA}"/>
              </a:ext>
            </a:extLst>
          </p:cNvPr>
          <p:cNvSpPr txBox="1">
            <a:spLocks/>
          </p:cNvSpPr>
          <p:nvPr/>
        </p:nvSpPr>
        <p:spPr>
          <a:xfrm>
            <a:off x="392084" y="103868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48E72A7-3B69-4CC6-9E6D-DD4F1FD87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417" y="752813"/>
            <a:ext cx="8710719" cy="610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9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Инициализация репозитория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6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59C71-BFF1-4E65-9A42-1C3A8824E202}"/>
              </a:ext>
            </a:extLst>
          </p:cNvPr>
          <p:cNvSpPr txBox="1"/>
          <p:nvPr/>
        </p:nvSpPr>
        <p:spPr>
          <a:xfrm>
            <a:off x="1014153" y="4852133"/>
            <a:ext cx="8092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Первичная инициализация локального репозитория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17059C0-EAC5-4316-B8D2-E27855668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536107-90A4-4030-85AC-490171E7E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92" y="1298812"/>
            <a:ext cx="8430802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6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93" y="-161132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Инициализация репозитория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59C71-BFF1-4E65-9A42-1C3A8824E202}"/>
              </a:ext>
            </a:extLst>
          </p:cNvPr>
          <p:cNvSpPr txBox="1"/>
          <p:nvPr/>
        </p:nvSpPr>
        <p:spPr>
          <a:xfrm>
            <a:off x="518320" y="5730827"/>
            <a:ext cx="7918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Конфигурационный файл локального репозитория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091DEB-0180-4A5C-945D-2A601473C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34" y="774672"/>
            <a:ext cx="6236080" cy="495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3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93" y="-161132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парсера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59C71-BFF1-4E65-9A42-1C3A8824E202}"/>
              </a:ext>
            </a:extLst>
          </p:cNvPr>
          <p:cNvSpPr txBox="1"/>
          <p:nvPr/>
        </p:nvSpPr>
        <p:spPr>
          <a:xfrm>
            <a:off x="1279122" y="6457890"/>
            <a:ext cx="3301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программы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grammar.js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FDC413-1FD5-4364-9719-C03DA5AB1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93" y="845343"/>
            <a:ext cx="4714891" cy="569356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C96794-7367-4DA7-8D55-6AF514387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398" y="296604"/>
            <a:ext cx="4431524" cy="60126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3253F1-F12C-48CE-853D-B9F4ECBD6C7F}"/>
              </a:ext>
            </a:extLst>
          </p:cNvPr>
          <p:cNvSpPr txBox="1"/>
          <p:nvPr/>
        </p:nvSpPr>
        <p:spPr>
          <a:xfrm>
            <a:off x="6114495" y="6288613"/>
            <a:ext cx="4809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Шаблон запроса в официальной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4243320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93" y="-161132"/>
            <a:ext cx="10515600" cy="1325563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файла  С++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9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59C71-BFF1-4E65-9A42-1C3A8824E202}"/>
              </a:ext>
            </a:extLst>
          </p:cNvPr>
          <p:cNvSpPr txBox="1"/>
          <p:nvPr/>
        </p:nvSpPr>
        <p:spPr>
          <a:xfrm>
            <a:off x="8450402" y="1053162"/>
            <a:ext cx="3063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test.cpp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299A34-4FBA-4F37-811A-59BFA30B7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80" y="890935"/>
            <a:ext cx="8043595" cy="546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4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93" y="-161132"/>
            <a:ext cx="10515600" cy="1325563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файла  С++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10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59C71-BFF1-4E65-9A42-1C3A8824E202}"/>
              </a:ext>
            </a:extLst>
          </p:cNvPr>
          <p:cNvSpPr txBox="1"/>
          <p:nvPr/>
        </p:nvSpPr>
        <p:spPr>
          <a:xfrm>
            <a:off x="925998" y="6457890"/>
            <a:ext cx="5625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граф, построенный с помощью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 Explorer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B39BC4-D770-4D8C-8C66-8A263DA59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93" y="814521"/>
            <a:ext cx="6581189" cy="564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6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93" y="-161132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тестового запроса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11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59C71-BFF1-4E65-9A42-1C3A8824E202}"/>
              </a:ext>
            </a:extLst>
          </p:cNvPr>
          <p:cNvSpPr txBox="1"/>
          <p:nvPr/>
        </p:nvSpPr>
        <p:spPr>
          <a:xfrm>
            <a:off x="2489369" y="4320358"/>
            <a:ext cx="5095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тестовых запросов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EFEAE6-123D-48C1-BC02-1874FE4B9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5" y="2869044"/>
            <a:ext cx="4084649" cy="9686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A1E6E4-E4C1-453A-BDE6-1C4A8D2A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527" y="2705533"/>
            <a:ext cx="5017103" cy="11484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4286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93" y="-161132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тестового запроса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12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59C71-BFF1-4E65-9A42-1C3A8824E202}"/>
              </a:ext>
            </a:extLst>
          </p:cNvPr>
          <p:cNvSpPr txBox="1"/>
          <p:nvPr/>
        </p:nvSpPr>
        <p:spPr>
          <a:xfrm>
            <a:off x="8450402" y="1053162"/>
            <a:ext cx="38856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конфигурационного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 тестового запроса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CEDC29-5F13-420E-ADFF-0D1813B8A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69" y="948457"/>
            <a:ext cx="8194735" cy="409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06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93" y="-161132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запроса к файлу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685AA8-8A10-4DB0-A6B3-58A227ADE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7993"/>
            <a:ext cx="12192000" cy="437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5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93" y="-161132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Понятность и полнота освещения в источниках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14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17C95A-DF96-459B-9F0A-B4471E407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78" y="1179239"/>
            <a:ext cx="117602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использованных источников показал, что официальная документация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содержит подробное описание архитектуры инструмента, принципов построения синтаксических деревьев и примеры использования языка запросов. Однако для начинающих пользователей материал может быть сложен из-за использования специализированных терминов (AST,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без достаточного пояснения. </a:t>
            </a:r>
            <a:endParaRPr kumimoji="0" lang="en-GB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Внешние источники позволяют глубже понять принципы синтаксического анализа и построения грамматик, однако зачастую ориентированы на подготовленного читателя и не содержат пошаговых инструкций по практическому использованию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Методические материалы дают общее представление 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 инструменте построения AST и его месте среди других решений. В отличие от источника, где отсутствует подробная демонстрация работы, выполненная работа расширяет материал примерами, однако не охватывает более сложные аспекты анализа, отсутствующие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7396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Пожелания к анализируемым учебным пособиям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15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17C95A-DF96-459B-9F0A-B4471E407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90" y="913027"/>
            <a:ext cx="117602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учебных материалов показал, что они могут быть улучшены с точки зрения практической направленности и доступности.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Целесообразно дополнить учебные пособия: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подробными пошаговыми инструкциями по установке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различных операционных системах;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примерами выполнения базовых команд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файлов, работа с AST, выполнение запросов) с пояснением результатов;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разбором типовых сценариев анализа кода (поиск функций, переменных, управляющих конструкций) с использованием языка запросов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426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16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17C95A-DF96-459B-9F0A-B4471E407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90" y="1460599"/>
            <a:ext cx="11760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лабораторной работы был изучен инструмент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его применение для синтаксического анализа программного кода. Была выполнена настройка среды, произведён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исходного файла на языке C++.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использованием языка запросов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был выполнен анализ структуры программы, включая поиск функций, переменных и управляющих конструкций. Это позволило на практике изучить процесс построения и обработки абстрактного синтаксического дерева (AST).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часть показала, что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эффективным инструментом для структурного анализа кода и может использоваться при разработке редакторов и инструментов статического анализа. Однако, в отличие от более сложных систем, он не предоставляет встроенных средств анализа программ.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515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источников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17</a:t>
            </a:fld>
            <a:endParaRPr lang="ru-RU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8E9A40-73BA-4F04-84A3-3A65E578B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90" y="679931"/>
            <a:ext cx="1140675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[Электронный ресурс]. — Режим доступа: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https://tree-sitter.github.io/tree-sitter/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13.04.2026). </a:t>
            </a:r>
          </a:p>
          <a:p>
            <a:pPr>
              <a:buFont typeface="+mj-lt"/>
              <a:buAutoNum type="arabicPeriod"/>
            </a:pP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[Электронный ресурс]. — Режим доступа: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https://github.com/tree-sitter/tree-sitter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13.04.2026). </a:t>
            </a:r>
          </a:p>
          <a:p>
            <a:pPr>
              <a:buFont typeface="+mj-lt"/>
              <a:buAutoNum type="arabicPeriod"/>
            </a:pP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Tree-sitter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C++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[Электронный ресурс]. — Режим доступа: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https://github.com/tree-sitter/tree-sitter-cpp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13.04.2026). </a:t>
            </a:r>
          </a:p>
          <a:p>
            <a:pPr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источник информации [Электронный ресурс]. — Режим доступа: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https://clck.ru/3TEpj8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13.04.2026). </a:t>
            </a:r>
          </a:p>
        </p:txBody>
      </p:sp>
    </p:spTree>
    <p:extLst>
      <p:ext uri="{BB962C8B-B14F-4D97-AF65-F5344CB8AC3E}">
        <p14:creationId xmlns:p14="http://schemas.microsoft.com/office/powerpoint/2010/main" val="106390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11205</TotalTime>
  <Words>698</Words>
  <Application>Microsoft Office PowerPoint</Application>
  <PresentationFormat>Широкоэкранный</PresentationFormat>
  <Paragraphs>83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Отчёт по лабораторной работе №7</vt:lpstr>
      <vt:lpstr>Содержание</vt:lpstr>
      <vt:lpstr>Постановка задачи</vt:lpstr>
      <vt:lpstr>Tree-sitter</vt:lpstr>
      <vt:lpstr>Структура работы</vt:lpstr>
      <vt:lpstr>Инициализация репозитория</vt:lpstr>
      <vt:lpstr>Инициализация репозитория</vt:lpstr>
      <vt:lpstr>Разработка парсера</vt:lpstr>
      <vt:lpstr>Парсинг файла  С++</vt:lpstr>
      <vt:lpstr>Парсинг файла  С++</vt:lpstr>
      <vt:lpstr>Разработка тестового запроса</vt:lpstr>
      <vt:lpstr>Разработка тестового запроса</vt:lpstr>
      <vt:lpstr>Применение запроса к файлу c++</vt:lpstr>
      <vt:lpstr>Понятность и полнота освещения в источниках</vt:lpstr>
      <vt:lpstr>Пожелания к анализируемым учебным пособиям </vt:lpstr>
      <vt:lpstr>Вывод</vt:lpstr>
      <vt:lpstr>Список источников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№6</dc:title>
  <dc:creator>Егор Королёв</dc:creator>
  <cp:lastModifiedBy>Вячеслав Луканкин</cp:lastModifiedBy>
  <cp:revision>28</cp:revision>
  <dcterms:created xsi:type="dcterms:W3CDTF">2026-04-14T20:09:30Z</dcterms:created>
  <dcterms:modified xsi:type="dcterms:W3CDTF">2026-05-28T12:08:43Z</dcterms:modified>
</cp:coreProperties>
</file>